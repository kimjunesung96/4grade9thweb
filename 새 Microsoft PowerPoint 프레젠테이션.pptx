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1" r:id="rId6"/>
    <p:sldId id="257" r:id="rId7"/>
    <p:sldId id="269" r:id="rId8"/>
    <p:sldId id="258" r:id="rId9"/>
    <p:sldId id="260" r:id="rId10"/>
    <p:sldId id="259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6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2A317-602C-953B-2471-90694ACDC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031C8C-1F1C-68AE-DA07-FC5A64A09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BD8F3E-38E7-E75C-4748-A8CFD86A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0202-0B3C-49DA-90EA-3C5F741E787A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597E77-FB48-5E00-CEA0-1685C6678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D1912E-3352-5C7A-755B-69C8714FB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A4E-5813-40EA-BC87-32A9F2DB9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58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74148B-AA86-8AF7-40CD-7DE27DDA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06FDB1-1B42-1B60-C0A8-B1FD9342C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93C00D-C9F1-5E60-80FE-43022CC9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0202-0B3C-49DA-90EA-3C5F741E787A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E3AF82-7F79-94EC-6C0C-9D2612610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DB5526-35D7-D572-0332-030F0EA3D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A4E-5813-40EA-BC87-32A9F2DB9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994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6F9E0-FF1E-FBB4-D5F4-1A047AD44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58E71-2C7F-3B4D-13EC-B9F21F24A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5A828D-7563-ABC0-F658-80AEAD0F3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0202-0B3C-49DA-90EA-3C5F741E787A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337DE3-6908-5D46-C518-AFF62122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70CD71-FCAC-EA0C-3916-D8B19C2B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A4E-5813-40EA-BC87-32A9F2DB9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693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18DA8D-C814-3C11-9413-5FB449A20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CEF866-2ACB-EAB7-F970-35F3A34C4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EAC5BF-BB49-E18A-6A96-0764816A3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9F92AB-EADF-FF52-0612-6DA99556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0202-0B3C-49DA-90EA-3C5F741E787A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91F71D-C33F-33B9-58C9-8DDE2CF99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D29932-5268-B4F9-5A5C-E288D0BA6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A4E-5813-40EA-BC87-32A9F2DB9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14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BE783-5AEC-8507-E5BB-69AF19194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E35BE9-0DDD-EC2D-55C8-6DA7B5014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BA6885-E738-9264-09AB-BFB3EADA0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F54EE4-956B-6D61-BB50-8B906F4E7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4C0916-9932-9D13-0D28-59FAB6D6E8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37C179-8712-F68D-3663-03C58FC19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0202-0B3C-49DA-90EA-3C5F741E787A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E3421DF-34BC-8A75-9E47-DF02CA7F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AEB925-28AE-2B7A-62C3-31291AA05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A4E-5813-40EA-BC87-32A9F2DB9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531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0E41D-6C6F-E4E6-64F9-5FBC1235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D2A647-A55C-0674-2AA2-45E5FBC0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0202-0B3C-49DA-90EA-3C5F741E787A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CA03C0-2A1C-CB1C-9DBF-942B0BCE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D09183-1369-9531-2404-E9E3A7AA9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A4E-5813-40EA-BC87-32A9F2DB9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35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6A6E9C-5386-FEAB-0109-1E382209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0202-0B3C-49DA-90EA-3C5F741E787A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B32CD6A-7277-74AB-38C5-6DAE2E2D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28D8A2-AFE9-55A7-A5DA-352E28030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A4E-5813-40EA-BC87-32A9F2DB9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732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B697C-6CD9-376B-5980-DCCEB1596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3FF62C-DCBD-E9A5-2DA2-3FA0FE3AA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93C9FC-2C67-7536-CA71-E57CB6B38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9FA228-B59C-44E6-A46F-3AD9B40C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0202-0B3C-49DA-90EA-3C5F741E787A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E7C4D7-7E7F-C83C-11DE-8B3F8DBDC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7FD86E-FD5F-7919-CDCC-80D0B5B8F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A4E-5813-40EA-BC87-32A9F2DB9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92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DCB240-EE26-EDF2-72B2-19D61CFA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906E0B8-EB3D-1437-1F69-F354D8F8CE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4E6936-0B71-160C-21FF-2E15144D2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85D437-83C5-8F34-6D7D-413BE16C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0202-0B3C-49DA-90EA-3C5F741E787A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2EB493-05E3-E778-3996-D2491684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1493B3-7F3F-61EC-C86C-9D301DE6F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A4E-5813-40EA-BC87-32A9F2DB9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553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65015-4035-73B2-253E-0BF868E8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620224-7E62-440D-BB91-D62502367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10D64E-A8AE-9974-7602-9D23DFFE4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0202-0B3C-49DA-90EA-3C5F741E787A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A61631-6422-BDAB-83F2-567DF260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498082-01A9-52AA-C6C9-5E4964C0E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A4E-5813-40EA-BC87-32A9F2DB9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16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765CEB-D835-A02B-667C-84823CC88F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D03E1E-59AB-C0EA-905F-3701B8E38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C48A95-F4CE-E371-995B-8A82C62D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0202-0B3C-49DA-90EA-3C5F741E787A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D51EE0-E6C7-1B8A-6814-D9C8FF03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3BBAE9-22F3-CA22-6C1C-595358692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8EA4E-5813-40EA-BC87-32A9F2DB9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368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A396DE-F876-703F-5FAC-9DC39E43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6311C4-7840-9C73-9E82-BB8655F71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7ED550-FC41-9423-E4A5-B112A3409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A0202-0B3C-49DA-90EA-3C5F741E787A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B56278-BBD8-D56C-ED46-3918E459D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F28526-72AB-245D-A761-DABCDB634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8EA4E-5813-40EA-BC87-32A9F2DB9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51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9E45B-E367-3802-46A7-3C29ACBE08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08A9D3-9BFB-1EB1-B48C-5EE70F799B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946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AB178-38E3-1DD0-ED80-244D2255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프로젝트 소개 </a:t>
            </a:r>
            <a:r>
              <a:rPr lang="en-US" altLang="ko-KR" dirty="0"/>
              <a:t>&amp; </a:t>
            </a:r>
            <a:r>
              <a:rPr lang="ko-KR" altLang="en-US" dirty="0"/>
              <a:t>기획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58F34D-F870-A04E-985B-0A0515CC6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b="1" dirty="0"/>
              <a:t>프로젝트 명</a:t>
            </a:r>
            <a:r>
              <a:rPr lang="en-US" altLang="ko-KR" b="1" dirty="0"/>
              <a:t>: My CAD Builder (</a:t>
            </a:r>
            <a:r>
              <a:rPr lang="ko-KR" altLang="en-US" b="1" dirty="0"/>
              <a:t>데이터 연동형 스마트 아키텍처 플랫폼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"</a:t>
            </a:r>
            <a:r>
              <a:rPr lang="ko-KR" altLang="en-US" b="1" dirty="0"/>
              <a:t>설계는 언제 어디서나 웹</a:t>
            </a:r>
            <a:r>
              <a:rPr lang="en-US" altLang="ko-KR" b="1" dirty="0"/>
              <a:t>(Web)</a:t>
            </a:r>
            <a:r>
              <a:rPr lang="ko-KR" altLang="en-US" b="1" dirty="0"/>
              <a:t>으로 가볍게</a:t>
            </a:r>
            <a:r>
              <a:rPr lang="en-US" altLang="ko-KR" b="1" dirty="0"/>
              <a:t>, </a:t>
            </a:r>
            <a:r>
              <a:rPr lang="ko-KR" altLang="en-US" b="1" dirty="0"/>
              <a:t>구현과 시뮬레이션은 유니티 </a:t>
            </a:r>
            <a:r>
              <a:rPr lang="en-US" altLang="ko-KR" b="1" dirty="0"/>
              <a:t>6(DOTS)</a:t>
            </a:r>
            <a:r>
              <a:rPr lang="ko-KR" altLang="en-US" b="1" dirty="0"/>
              <a:t>로 강력하게</a:t>
            </a:r>
            <a:r>
              <a:rPr lang="en-US" altLang="ko-KR" b="1" dirty="0"/>
              <a:t>!"</a:t>
            </a:r>
            <a:endParaRPr lang="ko-KR" altLang="en-US" dirty="0"/>
          </a:p>
          <a:p>
            <a:r>
              <a:rPr lang="ko-KR" altLang="en-US" b="1" dirty="0"/>
              <a:t>🔍 기획 배경 </a:t>
            </a:r>
            <a:r>
              <a:rPr lang="en-US" altLang="ko-KR" b="1" dirty="0"/>
              <a:t>(Why?)</a:t>
            </a:r>
          </a:p>
          <a:p>
            <a:r>
              <a:rPr lang="ko-KR" altLang="en-US" b="1" dirty="0"/>
              <a:t>기존 전문가용 </a:t>
            </a:r>
            <a:r>
              <a:rPr lang="en-US" altLang="ko-KR" b="1" dirty="0"/>
              <a:t>CAD</a:t>
            </a:r>
            <a:r>
              <a:rPr lang="ko-KR" altLang="en-US" b="1" dirty="0"/>
              <a:t>의 높은 장벽</a:t>
            </a:r>
            <a:r>
              <a:rPr lang="en-US" altLang="ko-KR" dirty="0"/>
              <a:t>: AutoCAD</a:t>
            </a:r>
            <a:r>
              <a:rPr lang="ko-KR" altLang="en-US" dirty="0"/>
              <a:t>나 </a:t>
            </a:r>
            <a:r>
              <a:rPr lang="en-US" altLang="ko-KR" dirty="0"/>
              <a:t>BIM </a:t>
            </a:r>
            <a:r>
              <a:rPr lang="ko-KR" altLang="en-US" dirty="0"/>
              <a:t>툴은 전문가를 위한 무거운 프로그램으로</a:t>
            </a:r>
            <a:r>
              <a:rPr lang="en-US" altLang="ko-KR" dirty="0"/>
              <a:t>, </a:t>
            </a:r>
            <a:r>
              <a:rPr lang="ko-KR" altLang="en-US" dirty="0"/>
              <a:t>일반 사용자가 가볍게 아이디어를 스케치하고 직관적인 물리적 피드백을 얻기 어렵습니다</a:t>
            </a:r>
            <a:r>
              <a:rPr lang="en-US" altLang="ko-KR" dirty="0"/>
              <a:t>.</a:t>
            </a:r>
          </a:p>
          <a:p>
            <a:r>
              <a:rPr lang="ko-KR" altLang="en-US" b="1" dirty="0" err="1"/>
              <a:t>샌드박스</a:t>
            </a:r>
            <a:r>
              <a:rPr lang="ko-KR" altLang="en-US" b="1" dirty="0"/>
              <a:t> 게임의 데이터 한계</a:t>
            </a:r>
            <a:r>
              <a:rPr lang="en-US" altLang="ko-KR" dirty="0"/>
              <a:t>: &lt;</a:t>
            </a:r>
            <a:r>
              <a:rPr lang="ko-KR" altLang="en-US" dirty="0"/>
              <a:t>마인크래프트</a:t>
            </a:r>
            <a:r>
              <a:rPr lang="en-US" altLang="ko-KR" dirty="0"/>
              <a:t>&gt; </a:t>
            </a:r>
            <a:r>
              <a:rPr lang="ko-KR" altLang="en-US" dirty="0"/>
              <a:t>같은 게임은 블록을 쌓는 재미는 주지만</a:t>
            </a:r>
            <a:r>
              <a:rPr lang="en-US" altLang="ko-KR" dirty="0"/>
              <a:t>, </a:t>
            </a:r>
            <a:r>
              <a:rPr lang="ko-KR" altLang="en-US" dirty="0"/>
              <a:t>인장강도나 압축하중 같은 </a:t>
            </a:r>
            <a:r>
              <a:rPr lang="en-US" altLang="ko-KR" dirty="0"/>
              <a:t>'</a:t>
            </a:r>
            <a:r>
              <a:rPr lang="ko-KR" altLang="en-US" dirty="0"/>
              <a:t>실제 공학적 데이터</a:t>
            </a:r>
            <a:r>
              <a:rPr lang="en-US" altLang="ko-KR" dirty="0"/>
              <a:t>' </a:t>
            </a:r>
            <a:r>
              <a:rPr lang="ko-KR" altLang="en-US" dirty="0"/>
              <a:t>기반의 진단과 장부</a:t>
            </a:r>
            <a:r>
              <a:rPr lang="en-US" altLang="ko-KR" dirty="0"/>
              <a:t>(CSV) </a:t>
            </a:r>
            <a:r>
              <a:rPr lang="ko-KR" altLang="en-US" dirty="0"/>
              <a:t>출력을 제공하지 못합니다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해결책</a:t>
            </a:r>
            <a:r>
              <a:rPr lang="en-US" altLang="ko-KR" dirty="0"/>
              <a:t>: </a:t>
            </a:r>
            <a:r>
              <a:rPr lang="ko-KR" altLang="en-US" dirty="0"/>
              <a:t>이에 저희는 웹 브라우저의 접근성과 </a:t>
            </a:r>
            <a:r>
              <a:rPr lang="en-US" altLang="ko-KR" dirty="0"/>
              <a:t>3D </a:t>
            </a:r>
            <a:r>
              <a:rPr lang="ko-KR" altLang="en-US" dirty="0"/>
              <a:t>게임 엔진의 고성능 </a:t>
            </a:r>
            <a:r>
              <a:rPr lang="ko-KR" altLang="en-US" dirty="0" err="1"/>
              <a:t>연산력을</a:t>
            </a:r>
            <a:r>
              <a:rPr lang="ko-KR" altLang="en-US" dirty="0"/>
              <a:t> 융합하여</a:t>
            </a:r>
            <a:r>
              <a:rPr lang="en-US" altLang="ko-KR" dirty="0"/>
              <a:t>, </a:t>
            </a:r>
            <a:r>
              <a:rPr lang="ko-KR" altLang="en-US" b="1" dirty="0"/>
              <a:t>누구나 쉽게 도면을 그리고 클라우드를 통해 </a:t>
            </a:r>
            <a:r>
              <a:rPr lang="en-US" altLang="ko-KR" b="1" dirty="0"/>
              <a:t>3D </a:t>
            </a:r>
            <a:r>
              <a:rPr lang="ko-KR" altLang="en-US" b="1" dirty="0"/>
              <a:t>디지털 트윈으로 실시간 건설 및 공학적 진단까지 가능한 원스톱 플랫폼</a:t>
            </a:r>
            <a:r>
              <a:rPr lang="ko-KR" altLang="en-US" dirty="0"/>
              <a:t>을 개발했습니다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928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2384-3867-948F-E628-E8C9F587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199AC-C321-9C7C-3BEB-A80DBB533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핵심 기술 스택 및 연동 아키텍처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B081AA-506D-C937-E012-FD47E17E4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저희 플랫폼은 </a:t>
            </a:r>
            <a:r>
              <a:rPr lang="en-US" altLang="ko-KR" dirty="0"/>
              <a:t>[</a:t>
            </a:r>
            <a:r>
              <a:rPr lang="ko-KR" altLang="en-US" dirty="0"/>
              <a:t>웹 </a:t>
            </a:r>
            <a:r>
              <a:rPr lang="en-US" altLang="ko-KR" dirty="0"/>
              <a:t>Front-End ➔ </a:t>
            </a:r>
            <a:r>
              <a:rPr lang="ko-KR" altLang="en-US" dirty="0"/>
              <a:t>클라우드 </a:t>
            </a:r>
            <a:r>
              <a:rPr lang="en-US" altLang="ko-KR" dirty="0"/>
              <a:t>Back-End ➔ 3D </a:t>
            </a:r>
            <a:r>
              <a:rPr lang="ko-KR" altLang="en-US" dirty="0"/>
              <a:t>고성능 시뮬레이터 </a:t>
            </a:r>
            <a:r>
              <a:rPr lang="en-US" altLang="ko-KR" dirty="0"/>
              <a:t>Engine]</a:t>
            </a:r>
            <a:r>
              <a:rPr lang="ko-KR" altLang="en-US" dirty="0"/>
              <a:t>이 </a:t>
            </a:r>
            <a:r>
              <a:rPr lang="en-US" altLang="ko-KR" dirty="0"/>
              <a:t>'12</a:t>
            </a:r>
            <a:r>
              <a:rPr lang="ko-KR" altLang="en-US" dirty="0"/>
              <a:t>칸 표준 규격 데이터</a:t>
            </a:r>
            <a:r>
              <a:rPr lang="en-US" altLang="ko-KR" dirty="0"/>
              <a:t>(CSV)'</a:t>
            </a:r>
            <a:r>
              <a:rPr lang="ko-KR" altLang="en-US" dirty="0"/>
              <a:t>를 매개체로 완벽하게 순환하는 구조를 가집니다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Front-End (React, Tailwind CSS, Vite)</a:t>
            </a:r>
            <a:endParaRPr lang="ko-KR" altLang="en-US" dirty="0"/>
          </a:p>
          <a:p>
            <a:pPr lvl="1"/>
            <a:r>
              <a:rPr lang="ko-KR" altLang="en-US" dirty="0"/>
              <a:t>설치가 필요 없는 웹 브라우저 환경에서 마우스 드래그로 </a:t>
            </a:r>
            <a:r>
              <a:rPr lang="en-US" altLang="ko-KR" dirty="0"/>
              <a:t>50x50 </a:t>
            </a:r>
            <a:r>
              <a:rPr lang="ko-KR" altLang="en-US" dirty="0"/>
              <a:t>격자 위에 벽과 바닥을 직관적으로 디자인하는 </a:t>
            </a:r>
            <a:r>
              <a:rPr lang="en-US" altLang="ko-KR" dirty="0"/>
              <a:t>2D </a:t>
            </a:r>
            <a:r>
              <a:rPr lang="ko-KR" altLang="en-US" dirty="0"/>
              <a:t>청사진 툴 구현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Back-End &amp; Cloud (</a:t>
            </a:r>
            <a:r>
              <a:rPr lang="en-US" altLang="ko-KR" b="1" dirty="0" err="1"/>
              <a:t>Supabase</a:t>
            </a:r>
            <a:r>
              <a:rPr lang="en-US" altLang="ko-KR" b="1" dirty="0"/>
              <a:t>)</a:t>
            </a:r>
            <a:endParaRPr lang="ko-KR" altLang="en-US" dirty="0"/>
          </a:p>
          <a:p>
            <a:pPr lvl="1"/>
            <a:r>
              <a:rPr lang="ko-KR" altLang="en-US" dirty="0"/>
              <a:t>실시간 데이터베이스</a:t>
            </a:r>
            <a:r>
              <a:rPr lang="en-US" altLang="ko-KR" dirty="0"/>
              <a:t>(DB) </a:t>
            </a:r>
            <a:r>
              <a:rPr lang="ko-KR" altLang="en-US" dirty="0"/>
              <a:t>시스템을 구축하여</a:t>
            </a:r>
            <a:r>
              <a:rPr lang="en-US" altLang="ko-KR" dirty="0"/>
              <a:t>, </a:t>
            </a:r>
            <a:r>
              <a:rPr lang="ko-KR" altLang="en-US" dirty="0"/>
              <a:t>웹에서 마우스로 그린 도면 데이터를 클라우드 금고에 실시간 동기화 및 관리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3D Engine (Unity 6, DOTS / Entities ECS, Burst Compiler)</a:t>
            </a:r>
            <a:endParaRPr lang="ko-KR" altLang="en-US" dirty="0"/>
          </a:p>
          <a:p>
            <a:pPr lvl="1"/>
            <a:r>
              <a:rPr lang="ko-KR" altLang="en-US" dirty="0"/>
              <a:t>클라우드에서 호출한 </a:t>
            </a:r>
            <a:r>
              <a:rPr lang="en-US" altLang="ko-KR" dirty="0"/>
              <a:t>2D </a:t>
            </a:r>
            <a:r>
              <a:rPr lang="ko-KR" altLang="en-US" dirty="0"/>
              <a:t>도면을 기반으로 수천 개의 </a:t>
            </a:r>
            <a:r>
              <a:rPr lang="en-US" altLang="ko-KR" dirty="0"/>
              <a:t>3D </a:t>
            </a:r>
            <a:r>
              <a:rPr lang="ko-KR" altLang="en-US" dirty="0" err="1"/>
              <a:t>복셀</a:t>
            </a:r>
            <a:r>
              <a:rPr lang="ko-KR" altLang="en-US" dirty="0"/>
              <a:t> 블록을 프레임 드랍 없이 </a:t>
            </a:r>
            <a:r>
              <a:rPr lang="ko-KR" altLang="en-US" dirty="0" err="1"/>
              <a:t>밀리초</a:t>
            </a:r>
            <a:r>
              <a:rPr lang="ko-KR" altLang="en-US" dirty="0"/>
              <a:t> 단위로 초고속 자동 건설</a:t>
            </a:r>
            <a:r>
              <a:rPr lang="en-US" altLang="ko-KR" dirty="0"/>
              <a:t>(</a:t>
            </a:r>
            <a:r>
              <a:rPr lang="en-US" altLang="ko-KR" dirty="0" err="1"/>
              <a:t>SpawnerSystem</a:t>
            </a:r>
            <a:r>
              <a:rPr lang="en-US" altLang="ko-KR" dirty="0"/>
              <a:t>, </a:t>
            </a:r>
            <a:r>
              <a:rPr lang="en-US" altLang="ko-KR" dirty="0" err="1"/>
              <a:t>BlueprintTargetGenerator</a:t>
            </a:r>
            <a:r>
              <a:rPr lang="en-US" altLang="ko-KR" dirty="0"/>
              <a:t>).</a:t>
            </a:r>
          </a:p>
          <a:p>
            <a:pPr lvl="1"/>
            <a:r>
              <a:rPr lang="ko-KR" altLang="en-US" dirty="0"/>
              <a:t>각 블록과 조인트</a:t>
            </a:r>
            <a:r>
              <a:rPr lang="en-US" altLang="ko-KR" dirty="0"/>
              <a:t>(Joint) </a:t>
            </a:r>
            <a:r>
              <a:rPr lang="ko-KR" altLang="en-US" dirty="0"/>
              <a:t>간의 인장</a:t>
            </a:r>
            <a:r>
              <a:rPr lang="en-US" altLang="ko-KR" dirty="0"/>
              <a:t>/</a:t>
            </a:r>
            <a:r>
              <a:rPr lang="ko-KR" altLang="en-US" dirty="0"/>
              <a:t>압축</a:t>
            </a:r>
            <a:r>
              <a:rPr lang="en-US" altLang="ko-KR" dirty="0"/>
              <a:t>/</a:t>
            </a:r>
            <a:r>
              <a:rPr lang="ko-KR" altLang="en-US" dirty="0"/>
              <a:t>전단 강도를 실시간 병렬 연산하기 위해 최신 </a:t>
            </a:r>
            <a:r>
              <a:rPr lang="en-US" altLang="ko-KR" b="1" dirty="0"/>
              <a:t>Unity 6 DOTS</a:t>
            </a:r>
            <a:r>
              <a:rPr lang="ko-KR" altLang="en-US" dirty="0"/>
              <a:t> 및 </a:t>
            </a:r>
            <a:r>
              <a:rPr lang="en-US" altLang="ko-KR" b="1" dirty="0"/>
              <a:t>Burst Compiler</a:t>
            </a:r>
            <a:r>
              <a:rPr lang="ko-KR" altLang="en-US" dirty="0"/>
              <a:t> 기술 적용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2676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041CF-4F58-E5E7-68B6-CF13DF8B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61FB0-264D-3A59-5E1C-C0EFBD11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기존 </a:t>
            </a:r>
            <a:r>
              <a:rPr lang="ko-KR" altLang="en-US" dirty="0" err="1"/>
              <a:t>리얼월드</a:t>
            </a:r>
            <a:r>
              <a:rPr lang="ko-KR" altLang="en-US" dirty="0"/>
              <a:t> 프로그램</a:t>
            </a:r>
            <a:r>
              <a:rPr lang="en-US" altLang="ko-KR" dirty="0"/>
              <a:t>/</a:t>
            </a:r>
            <a:r>
              <a:rPr lang="ko-KR" altLang="en-US" dirty="0"/>
              <a:t>게임과의 </a:t>
            </a:r>
            <a:r>
              <a:rPr lang="en-US" altLang="ko-KR" dirty="0"/>
              <a:t>'</a:t>
            </a:r>
            <a:r>
              <a:rPr lang="ko-KR" altLang="en-US" dirty="0"/>
              <a:t>진짜</a:t>
            </a:r>
            <a:r>
              <a:rPr lang="en-US" altLang="ko-KR" dirty="0"/>
              <a:t>' </a:t>
            </a:r>
            <a:r>
              <a:rPr lang="ko-KR" altLang="en-US" dirty="0"/>
              <a:t>차별성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6A7392B-E7C6-08D8-B7DB-8F44D8D9E5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583905"/>
              </p:ext>
            </p:extLst>
          </p:nvPr>
        </p:nvGraphicFramePr>
        <p:xfrm>
          <a:off x="1282654" y="2425910"/>
          <a:ext cx="9153728" cy="4432090"/>
        </p:xfrm>
        <a:graphic>
          <a:graphicData uri="http://schemas.openxmlformats.org/drawingml/2006/table">
            <a:tbl>
              <a:tblPr/>
              <a:tblGrid>
                <a:gridCol w="2288432">
                  <a:extLst>
                    <a:ext uri="{9D8B030D-6E8A-4147-A177-3AD203B41FA5}">
                      <a16:colId xmlns:a16="http://schemas.microsoft.com/office/drawing/2014/main" val="1194913457"/>
                    </a:ext>
                  </a:extLst>
                </a:gridCol>
                <a:gridCol w="2288432">
                  <a:extLst>
                    <a:ext uri="{9D8B030D-6E8A-4147-A177-3AD203B41FA5}">
                      <a16:colId xmlns:a16="http://schemas.microsoft.com/office/drawing/2014/main" val="1525752007"/>
                    </a:ext>
                  </a:extLst>
                </a:gridCol>
                <a:gridCol w="2288432">
                  <a:extLst>
                    <a:ext uri="{9D8B030D-6E8A-4147-A177-3AD203B41FA5}">
                      <a16:colId xmlns:a16="http://schemas.microsoft.com/office/drawing/2014/main" val="3713083014"/>
                    </a:ext>
                  </a:extLst>
                </a:gridCol>
                <a:gridCol w="2288432">
                  <a:extLst>
                    <a:ext uri="{9D8B030D-6E8A-4147-A177-3AD203B41FA5}">
                      <a16:colId xmlns:a16="http://schemas.microsoft.com/office/drawing/2014/main" val="715499645"/>
                    </a:ext>
                  </a:extLst>
                </a:gridCol>
              </a:tblGrid>
              <a:tr h="583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>
                          <a:effectLst/>
                          <a:latin typeface="Google Sans Text"/>
                        </a:rPr>
                        <a:t>비교 항목</a:t>
                      </a:r>
                      <a:endParaRPr lang="ko-KR" altLang="en-US" sz="1600">
                        <a:effectLst/>
                        <a:latin typeface="Google Sans Text"/>
                      </a:endParaRP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>
                          <a:effectLst/>
                          <a:latin typeface="Google Sans Text"/>
                        </a:rPr>
                        <a:t>기존 전문 </a:t>
                      </a:r>
                      <a:r>
                        <a:rPr lang="en-US" sz="1600" b="1">
                          <a:effectLst/>
                          <a:latin typeface="Google Sans Text"/>
                        </a:rPr>
                        <a:t>CAD (AutoCAD, Revit)</a:t>
                      </a:r>
                      <a:endParaRPr lang="en-US" sz="1600">
                        <a:effectLst/>
                        <a:latin typeface="Google Sans Text"/>
                      </a:endParaRP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>
                          <a:effectLst/>
                          <a:latin typeface="Google Sans Text"/>
                        </a:rPr>
                        <a:t>기존 샌드박스 게임 </a:t>
                      </a:r>
                      <a:r>
                        <a:rPr lang="en-US" altLang="ko-KR" sz="1600" b="1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 b="1">
                          <a:effectLst/>
                          <a:latin typeface="Google Sans Text"/>
                        </a:rPr>
                        <a:t>마인크래프트 등</a:t>
                      </a:r>
                      <a:r>
                        <a:rPr lang="en-US" altLang="ko-KR" sz="1600" b="1">
                          <a:effectLst/>
                          <a:latin typeface="Google Sans Text"/>
                        </a:rPr>
                        <a:t>)</a:t>
                      </a:r>
                      <a:endParaRPr lang="ko-KR" altLang="en-US" sz="1600">
                        <a:effectLst/>
                        <a:latin typeface="Google Sans Text"/>
                      </a:endParaRP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>
                          <a:effectLst/>
                          <a:latin typeface="Google Sans Text"/>
                        </a:rPr>
                        <a:t>우리 프로젝트 </a:t>
                      </a:r>
                      <a:r>
                        <a:rPr lang="en-US" altLang="ko-KR" sz="1600" b="1"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600" b="1">
                          <a:effectLst/>
                          <a:latin typeface="Google Sans Text"/>
                        </a:rPr>
                        <a:t>My CAD Builder)</a:t>
                      </a:r>
                      <a:endParaRPr lang="en-US" sz="1600">
                        <a:effectLst/>
                        <a:latin typeface="Google Sans Text"/>
                      </a:endParaRP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436301"/>
                  </a:ext>
                </a:extLst>
              </a:tr>
              <a:tr h="822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>
                          <a:effectLst/>
                          <a:latin typeface="Google Sans Text"/>
                        </a:rPr>
                        <a:t>접근성</a:t>
                      </a:r>
                      <a:endParaRPr lang="ko-KR" altLang="en-US" sz="1600">
                        <a:effectLst/>
                        <a:latin typeface="Google Sans Text"/>
                      </a:endParaRP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effectLst/>
                          <a:latin typeface="Google Sans Text"/>
                        </a:rPr>
                        <a:t>❌ 매우 낮음 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>
                          <a:effectLst/>
                          <a:latin typeface="Google Sans Text"/>
                        </a:rPr>
                        <a:t>무거운 설치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600">
                          <a:effectLst/>
                          <a:latin typeface="Google Sans Text"/>
                        </a:rPr>
                        <a:t>유료 라이선스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600">
                          <a:effectLst/>
                          <a:latin typeface="Google Sans Text"/>
                        </a:rPr>
                        <a:t>높은 숙련도 요구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effectLst/>
                          <a:latin typeface="Google Sans Text"/>
                        </a:rPr>
                        <a:t>⭕ 매우 높음 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>
                          <a:effectLst/>
                          <a:latin typeface="Google Sans Text"/>
                        </a:rPr>
                        <a:t>누구나 쉽게 블록 배치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>
                          <a:effectLst/>
                          <a:latin typeface="Google Sans Text"/>
                        </a:rPr>
                        <a:t>⭐ 최상 </a:t>
                      </a:r>
                      <a:r>
                        <a:rPr lang="en-US" altLang="ko-KR" sz="1600" b="1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 b="1">
                          <a:effectLst/>
                          <a:latin typeface="Google Sans Text"/>
                        </a:rPr>
                        <a:t>웹 브라우저로 접속해 로그인 없이 즉시 </a:t>
                      </a:r>
                      <a:r>
                        <a:rPr lang="en-US" altLang="ko-KR" sz="1600" b="1">
                          <a:effectLst/>
                          <a:latin typeface="Google Sans Text"/>
                        </a:rPr>
                        <a:t>2D </a:t>
                      </a:r>
                      <a:r>
                        <a:rPr lang="ko-KR" altLang="en-US" sz="1600" b="1">
                          <a:effectLst/>
                          <a:latin typeface="Google Sans Text"/>
                        </a:rPr>
                        <a:t>드래그 설계</a:t>
                      </a:r>
                      <a:r>
                        <a:rPr lang="en-US" altLang="ko-KR" sz="1600" b="1">
                          <a:effectLst/>
                          <a:latin typeface="Google Sans Text"/>
                        </a:rPr>
                        <a:t>)</a:t>
                      </a:r>
                      <a:endParaRPr lang="ko-KR" altLang="en-US" sz="1600">
                        <a:effectLst/>
                        <a:latin typeface="Google Sans Text"/>
                      </a:endParaRP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589385"/>
                  </a:ext>
                </a:extLst>
              </a:tr>
              <a:tr h="822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>
                          <a:effectLst/>
                          <a:latin typeface="Google Sans Text"/>
                        </a:rPr>
                        <a:t>연동성</a:t>
                      </a:r>
                      <a:endParaRPr lang="ko-KR" altLang="en-US" sz="1600">
                        <a:effectLst/>
                        <a:latin typeface="Google Sans Text"/>
                      </a:endParaRP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effectLst/>
                          <a:latin typeface="Google Sans Text"/>
                        </a:rPr>
                        <a:t>🔺 보통 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>
                          <a:effectLst/>
                          <a:latin typeface="Google Sans Text"/>
                        </a:rPr>
                        <a:t>파일 기반 내보내기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600">
                          <a:effectLst/>
                          <a:latin typeface="Google Sans Text"/>
                        </a:rPr>
                        <a:t>가져오기 프로세스 번거로움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effectLst/>
                          <a:latin typeface="Google Sans Text"/>
                        </a:rPr>
                        <a:t>❌ 없음 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>
                          <a:effectLst/>
                          <a:latin typeface="Google Sans Text"/>
                        </a:rPr>
                        <a:t>게임 내 독립 데이터로 고립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>
                          <a:effectLst/>
                          <a:latin typeface="Google Sans Text"/>
                        </a:rPr>
                        <a:t>⭐ 혁신 </a:t>
                      </a:r>
                      <a:r>
                        <a:rPr lang="en-US" altLang="ko-KR" sz="1600" b="1">
                          <a:effectLst/>
                          <a:latin typeface="Google Sans Text"/>
                        </a:rPr>
                        <a:t>(Web ➔ Cloud ➔ Unity Engine </a:t>
                      </a:r>
                      <a:r>
                        <a:rPr lang="ko-KR" altLang="en-US" sz="1600" b="1">
                          <a:effectLst/>
                          <a:latin typeface="Google Sans Text"/>
                        </a:rPr>
                        <a:t>실시간 </a:t>
                      </a:r>
                      <a:r>
                        <a:rPr lang="en-US" altLang="ko-KR" sz="1600" b="1">
                          <a:effectLst/>
                          <a:latin typeface="Google Sans Text"/>
                        </a:rPr>
                        <a:t>12</a:t>
                      </a:r>
                      <a:r>
                        <a:rPr lang="ko-KR" altLang="en-US" sz="1600" b="1">
                          <a:effectLst/>
                          <a:latin typeface="Google Sans Text"/>
                        </a:rPr>
                        <a:t>칸 표준 데이터 연동</a:t>
                      </a:r>
                      <a:r>
                        <a:rPr lang="en-US" altLang="ko-KR" sz="1600" b="1">
                          <a:effectLst/>
                          <a:latin typeface="Google Sans Text"/>
                        </a:rPr>
                        <a:t>)</a:t>
                      </a:r>
                      <a:endParaRPr lang="ko-KR" altLang="en-US" sz="1600">
                        <a:effectLst/>
                        <a:latin typeface="Google Sans Text"/>
                      </a:endParaRP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410639"/>
                  </a:ext>
                </a:extLst>
              </a:tr>
              <a:tr h="1061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>
                          <a:effectLst/>
                          <a:latin typeface="Google Sans Text"/>
                        </a:rPr>
                        <a:t>연산 성능</a:t>
                      </a:r>
                      <a:endParaRPr lang="ko-KR" altLang="en-US" sz="1600">
                        <a:effectLst/>
                        <a:latin typeface="Google Sans Text"/>
                      </a:endParaRP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effectLst/>
                          <a:latin typeface="Google Sans Text"/>
                        </a:rPr>
                        <a:t>❌ 느림 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>
                          <a:effectLst/>
                          <a:latin typeface="Google Sans Text"/>
                        </a:rPr>
                        <a:t>정밀 구조 해석 시 별도 무거운 플러그인 돌려야 함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effectLst/>
                          <a:latin typeface="Google Sans Text"/>
                        </a:rPr>
                        <a:t>❌ 불가능 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>
                          <a:effectLst/>
                          <a:latin typeface="Google Sans Text"/>
                        </a:rPr>
                        <a:t>대규모 블록 간 상호 물리 연산 시 프레임 드랍 발생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>
                          <a:effectLst/>
                          <a:latin typeface="Google Sans Text"/>
                        </a:rPr>
                        <a:t>⭐ 초고속 </a:t>
                      </a:r>
                      <a:r>
                        <a:rPr lang="en-US" altLang="ko-KR" sz="1600" b="1">
                          <a:effectLst/>
                          <a:latin typeface="Google Sans Text"/>
                        </a:rPr>
                        <a:t>(Unity 6 DOTS + Burst Compiler </a:t>
                      </a:r>
                      <a:r>
                        <a:rPr lang="ko-KR" altLang="en-US" sz="1600" b="1">
                          <a:effectLst/>
                          <a:latin typeface="Google Sans Text"/>
                        </a:rPr>
                        <a:t>기반</a:t>
                      </a:r>
                      <a:r>
                        <a:rPr lang="en-US" altLang="ko-KR" sz="1600" b="1"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600" b="1">
                          <a:effectLst/>
                          <a:latin typeface="Google Sans Text"/>
                        </a:rPr>
                        <a:t>수천 개 블록 실시간 물리 연산</a:t>
                      </a:r>
                      <a:r>
                        <a:rPr lang="en-US" altLang="ko-KR" sz="1600" b="1">
                          <a:effectLst/>
                          <a:latin typeface="Google Sans Text"/>
                        </a:rPr>
                        <a:t>)</a:t>
                      </a:r>
                      <a:endParaRPr lang="ko-KR" altLang="en-US" sz="1600">
                        <a:effectLst/>
                        <a:latin typeface="Google Sans Text"/>
                      </a:endParaRP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695623"/>
                  </a:ext>
                </a:extLst>
              </a:tr>
              <a:tr h="1061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>
                          <a:effectLst/>
                          <a:latin typeface="Google Sans Text"/>
                        </a:rPr>
                        <a:t>데이터 활용</a:t>
                      </a:r>
                      <a:endParaRPr lang="ko-KR" altLang="en-US" sz="1600">
                        <a:effectLst/>
                        <a:latin typeface="Google Sans Text"/>
                      </a:endParaRP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effectLst/>
                          <a:latin typeface="Google Sans Text"/>
                        </a:rPr>
                        <a:t>⭕ 높음 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>
                          <a:effectLst/>
                          <a:latin typeface="Google Sans Text"/>
                        </a:rPr>
                        <a:t>수치 데이터 중심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effectLst/>
                          <a:latin typeface="Google Sans Text"/>
                        </a:rPr>
                        <a:t>❌ 없음 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>
                          <a:effectLst/>
                          <a:latin typeface="Google Sans Text"/>
                        </a:rPr>
                        <a:t>시각적 배치에만 치중</a:t>
                      </a:r>
                      <a:r>
                        <a:rPr lang="en-US" altLang="ko-KR" sz="160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>
                          <a:effectLst/>
                          <a:latin typeface="Google Sans Text"/>
                        </a:rPr>
                        <a:t>⭐ 높음 </a:t>
                      </a:r>
                      <a:r>
                        <a:rPr lang="en-US" altLang="ko-KR" sz="1600" b="1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 b="1" dirty="0">
                          <a:effectLst/>
                          <a:latin typeface="Google Sans Text"/>
                        </a:rPr>
                        <a:t>실시간 단가 기반 예산 장부 및 </a:t>
                      </a:r>
                      <a:r>
                        <a:rPr lang="en-US" altLang="ko-KR" sz="1600" b="1" dirty="0">
                          <a:effectLst/>
                          <a:latin typeface="Google Sans Text"/>
                        </a:rPr>
                        <a:t>Safe/Warning/Danger </a:t>
                      </a:r>
                      <a:r>
                        <a:rPr lang="ko-KR" altLang="en-US" sz="1600" b="1" dirty="0">
                          <a:effectLst/>
                          <a:latin typeface="Google Sans Text"/>
                        </a:rPr>
                        <a:t>진단 </a:t>
                      </a:r>
                      <a:r>
                        <a:rPr lang="en-US" altLang="ko-KR" sz="1600" b="1" dirty="0">
                          <a:effectLst/>
                          <a:latin typeface="Google Sans Text"/>
                        </a:rPr>
                        <a:t>CSV </a:t>
                      </a:r>
                      <a:r>
                        <a:rPr lang="ko-KR" altLang="en-US" sz="1600" b="1" dirty="0">
                          <a:effectLst/>
                          <a:latin typeface="Google Sans Text"/>
                        </a:rPr>
                        <a:t>출력</a:t>
                      </a:r>
                      <a:r>
                        <a:rPr lang="en-US" altLang="ko-KR" sz="1600" b="1" dirty="0">
                          <a:effectLst/>
                          <a:latin typeface="Google Sans Text"/>
                        </a:rPr>
                        <a:t>)</a:t>
                      </a:r>
                      <a:endParaRPr lang="ko-KR" altLang="en-US" sz="1600" dirty="0">
                        <a:effectLst/>
                        <a:latin typeface="Google Sans Text"/>
                      </a:endParaRPr>
                    </a:p>
                  </a:txBody>
                  <a:tcPr marL="79598" marR="79598" marT="53065" marB="53065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40014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A1F31EC-B6E8-9F10-1903-FFDD952B4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969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심사위원이 *"기존 툴이나 게임과 뭐가 다르죠?"*라고 물었을 때 완벽하게 방어할 수 있는 차별점 비교표입니다.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199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B4ECB-0DB4-AEAF-4D75-B9681A59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8E1AC-D6E3-3510-26DC-95716D8C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13D10D7-819A-9454-A9F1-FF9C9EE5B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296" y="1825625"/>
            <a:ext cx="6965408" cy="4351338"/>
          </a:xfrm>
        </p:spPr>
      </p:pic>
    </p:spTree>
    <p:extLst>
      <p:ext uri="{BB962C8B-B14F-4D97-AF65-F5344CB8AC3E}">
        <p14:creationId xmlns:p14="http://schemas.microsoft.com/office/powerpoint/2010/main" val="1832162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4">
            <a:extLst>
              <a:ext uri="{FF2B5EF4-FFF2-40B4-BE49-F238E27FC236}">
                <a16:creationId xmlns:a16="http://schemas.microsoft.com/office/drawing/2014/main" id="{68CF8E44-131E-CE10-4838-56163A64F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296" y="1825625"/>
            <a:ext cx="6965408" cy="43513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3AA89F1-7457-4780-4438-A2CB61591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D608A8D-D0AB-EA99-777E-DA3D466DA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272" y="2766328"/>
            <a:ext cx="3208803" cy="3208803"/>
          </a:xfrm>
        </p:spPr>
      </p:pic>
    </p:spTree>
    <p:extLst>
      <p:ext uri="{BB962C8B-B14F-4D97-AF65-F5344CB8AC3E}">
        <p14:creationId xmlns:p14="http://schemas.microsoft.com/office/powerpoint/2010/main" val="151984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F4913-4ED3-73C9-AD84-8C4391005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4">
            <a:extLst>
              <a:ext uri="{FF2B5EF4-FFF2-40B4-BE49-F238E27FC236}">
                <a16:creationId xmlns:a16="http://schemas.microsoft.com/office/drawing/2014/main" id="{4C0FE93D-400C-79DC-068D-CB6583A33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296" y="1825625"/>
            <a:ext cx="6965408" cy="43513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821CE62-7801-73D1-EB3E-B0404A04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414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30C43-B24E-BD9C-90C6-D1839FB3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B98BC-965D-16CA-F6DD-77FE9A92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8C8E4CF-272F-2D69-A006-0BC279E3C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296" y="1825625"/>
            <a:ext cx="6965408" cy="4351338"/>
          </a:xfrm>
        </p:spPr>
      </p:pic>
    </p:spTree>
    <p:extLst>
      <p:ext uri="{BB962C8B-B14F-4D97-AF65-F5344CB8AC3E}">
        <p14:creationId xmlns:p14="http://schemas.microsoft.com/office/powerpoint/2010/main" val="1630185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AE70C-25C1-4F65-EA36-FDD15F690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D49B0-0304-FC72-E91A-52A4A96E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ED7BDED-44CD-7F2E-469F-E46D789F8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296" y="1825625"/>
            <a:ext cx="6965408" cy="4351338"/>
          </a:xfrm>
        </p:spPr>
      </p:pic>
    </p:spTree>
    <p:extLst>
      <p:ext uri="{BB962C8B-B14F-4D97-AF65-F5344CB8AC3E}">
        <p14:creationId xmlns:p14="http://schemas.microsoft.com/office/powerpoint/2010/main" val="1682009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8BF95-225E-873F-DE9E-70020FD1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B7209-9A2D-EDA5-FCE1-08F45D315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47D7B0A-B889-EC01-A95C-EC65A7863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932" y="1825625"/>
            <a:ext cx="6974136" cy="4351338"/>
          </a:xfrm>
        </p:spPr>
      </p:pic>
    </p:spTree>
    <p:extLst>
      <p:ext uri="{BB962C8B-B14F-4D97-AF65-F5344CB8AC3E}">
        <p14:creationId xmlns:p14="http://schemas.microsoft.com/office/powerpoint/2010/main" val="582749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BDB9F-FB64-7100-C631-0C39D0052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A4C46-136E-DA95-73EE-45BA06C3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51BF948-B62D-8277-AF18-590E6E933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947" y="1825625"/>
            <a:ext cx="6914106" cy="4351338"/>
          </a:xfrm>
        </p:spPr>
      </p:pic>
    </p:spTree>
    <p:extLst>
      <p:ext uri="{BB962C8B-B14F-4D97-AF65-F5344CB8AC3E}">
        <p14:creationId xmlns:p14="http://schemas.microsoft.com/office/powerpoint/2010/main" val="3592836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68975-9B5C-3695-8CFC-F0FB2B656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E0E01-D931-2ED1-3DC3-FD1E8023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2A7E90E-6F64-1C2F-5E58-FD821753F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296" y="1825625"/>
            <a:ext cx="6965408" cy="4351338"/>
          </a:xfrm>
        </p:spPr>
      </p:pic>
    </p:spTree>
    <p:extLst>
      <p:ext uri="{BB962C8B-B14F-4D97-AF65-F5344CB8AC3E}">
        <p14:creationId xmlns:p14="http://schemas.microsoft.com/office/powerpoint/2010/main" val="637074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987A-9E0D-7831-0D35-6759E742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38304C-4BC8-CAAD-A274-FABEF7086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BBC218F-2E9A-BAE1-9D42-45CE5213F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657" y="1825625"/>
            <a:ext cx="6962685" cy="4351338"/>
          </a:xfrm>
        </p:spPr>
      </p:pic>
    </p:spTree>
    <p:extLst>
      <p:ext uri="{BB962C8B-B14F-4D97-AF65-F5344CB8AC3E}">
        <p14:creationId xmlns:p14="http://schemas.microsoft.com/office/powerpoint/2010/main" val="2292206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3FD2-3D9C-C44B-127B-E09B11A41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9F7A0-A17A-AF65-205F-B408EB729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EAA5E48-F681-3586-EDC5-D669D845C0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296" y="1825625"/>
            <a:ext cx="6965408" cy="4351338"/>
          </a:xfrm>
        </p:spPr>
      </p:pic>
    </p:spTree>
    <p:extLst>
      <p:ext uri="{BB962C8B-B14F-4D97-AF65-F5344CB8AC3E}">
        <p14:creationId xmlns:p14="http://schemas.microsoft.com/office/powerpoint/2010/main" val="1719686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505</Words>
  <Application>Microsoft Office PowerPoint</Application>
  <PresentationFormat>와이드스크린</PresentationFormat>
  <Paragraphs>38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Google Sans Text</vt:lpstr>
      <vt:lpstr>맑은 고딕</vt:lpstr>
      <vt:lpstr>Arial</vt:lpstr>
      <vt:lpstr>Office 테마</vt:lpstr>
      <vt:lpstr>PowerPoint 프레젠테이션</vt:lpstr>
      <vt:lpstr>1. 프로젝트 소개 &amp; 기획 배경</vt:lpstr>
      <vt:lpstr>2. 핵심 기술 스택 및 연동 아키텍처</vt:lpstr>
      <vt:lpstr>3. 기존 리얼월드 프로그램/게임과의 '진짜' 차별성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준성 김</dc:creator>
  <cp:lastModifiedBy>준성 김</cp:lastModifiedBy>
  <cp:revision>5</cp:revision>
  <dcterms:created xsi:type="dcterms:W3CDTF">2026-05-28T16:32:22Z</dcterms:created>
  <dcterms:modified xsi:type="dcterms:W3CDTF">2026-05-28T16:45:57Z</dcterms:modified>
</cp:coreProperties>
</file>